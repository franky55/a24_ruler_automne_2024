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1" r:id="rId6"/>
    <p:sldId id="273" r:id="rId7"/>
    <p:sldId id="292" r:id="rId8"/>
    <p:sldId id="283" r:id="rId9"/>
    <p:sldId id="290" r:id="rId10"/>
    <p:sldId id="285" r:id="rId11"/>
    <p:sldId id="284" r:id="rId12"/>
    <p:sldId id="291" r:id="rId13"/>
    <p:sldId id="286" r:id="rId14"/>
    <p:sldId id="275" r:id="rId15"/>
    <p:sldId id="287" r:id="rId16"/>
    <p:sldId id="277" r:id="rId17"/>
    <p:sldId id="288" r:id="rId18"/>
    <p:sldId id="28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F199375-70F8-4A22-91D5-3520715C6D32}">
          <p14:sldIdLst>
            <p14:sldId id="256"/>
            <p14:sldId id="261"/>
          </p14:sldIdLst>
        </p14:section>
        <p14:section name="SECTION 1" id="{7A37C132-B6A0-4B99-BF16-D318D3F1CA80}">
          <p14:sldIdLst>
            <p14:sldId id="273"/>
            <p14:sldId id="292"/>
          </p14:sldIdLst>
        </p14:section>
        <p14:section name="SECTION 2" id="{E10EC373-6E99-40DD-A6D2-C8108FD0FC09}">
          <p14:sldIdLst>
            <p14:sldId id="283"/>
            <p14:sldId id="290"/>
            <p14:sldId id="285"/>
            <p14:sldId id="284"/>
            <p14:sldId id="291"/>
          </p14:sldIdLst>
        </p14:section>
        <p14:section name="SECTION 3" id="{972A0899-52C7-4C9D-B0C7-398A0BC400E3}">
          <p14:sldIdLst>
            <p14:sldId id="286"/>
            <p14:sldId id="275"/>
          </p14:sldIdLst>
        </p14:section>
        <p14:section name="SECTION 4" id="{894E6599-B9B8-4353-8786-79D2843CB87F}">
          <p14:sldIdLst>
            <p14:sldId id="287"/>
            <p14:sldId id="277"/>
          </p14:sldIdLst>
        </p14:section>
        <p14:section name="Démonstration" id="{F0D774B6-1C62-4EBE-978F-228A63749D19}">
          <p14:sldIdLst>
            <p14:sldId id="288"/>
          </p14:sldIdLst>
        </p14:section>
        <p14:section name="PÉRIODE DE QUESTION" id="{83747EB3-A83B-4E35-8D33-9A46674E6AE1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B3F2"/>
    <a:srgbClr val="FF6161"/>
    <a:srgbClr val="D2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6D04B-D792-4467-99FE-36A9BF45472C}" v="660" dt="2025-01-03T23:54:21.019"/>
    <p1510:client id="{A0744714-AFDB-4205-B550-D5E7FCAB0F54}" v="1119" dt="2025-01-04T00:31:45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DE85E5-FC4B-9ACB-96EB-BBA1E50A1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67979-9E1B-C404-AF09-81D80DCEE1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969F3-F764-474D-AAB9-E42E8C1913FC}" type="datetimeFigureOut">
              <a:rPr lang="fr-CA" smtClean="0"/>
              <a:t>2025-01-03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9B599-B9BB-304D-E9CD-76D5A0720F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82668-6614-3E8E-5957-8E31BABC38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B1A73-B83F-4DE4-87DE-EB28A953DC1A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0749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11376-7A79-4B35-A1E4-2EDD717BC2F7}" type="datetimeFigureOut">
              <a:rPr lang="fr-CA" smtClean="0"/>
              <a:t>2025-01-03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87B54-6420-4631-AB07-97EBBD03853E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2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5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1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5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8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0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3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47B539A-662B-3FC4-40C8-09238E0629AE}"/>
              </a:ext>
            </a:extLst>
          </p:cNvPr>
          <p:cNvSpPr txBox="1">
            <a:spLocks/>
          </p:cNvSpPr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Ruler 2024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B302015-C5F6-B736-710A-854166B7148A}"/>
              </a:ext>
            </a:extLst>
          </p:cNvPr>
          <p:cNvSpPr txBox="1">
            <a:spLocks/>
          </p:cNvSpPr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Présentation</a:t>
            </a:r>
            <a:r>
              <a:rPr lang="en-US" sz="1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par : équipe 2</a:t>
            </a:r>
          </a:p>
          <a:p>
            <a:pPr algn="l"/>
            <a:r>
              <a:rPr lang="en-US" sz="1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Laurie-Anne Boudreault</a:t>
            </a:r>
          </a:p>
          <a:p>
            <a:pPr algn="l"/>
            <a:r>
              <a:rPr lang="en-US" sz="1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Francis Gratton</a:t>
            </a:r>
          </a:p>
          <a:p>
            <a:pPr algn="l"/>
            <a:r>
              <a:rPr lang="en-US" sz="1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Groupe technique C3I</a:t>
            </a:r>
          </a:p>
        </p:txBody>
      </p:sp>
    </p:spTree>
    <p:extLst>
      <p:ext uri="{BB962C8B-B14F-4D97-AF65-F5344CB8AC3E}">
        <p14:creationId xmlns:p14="http://schemas.microsoft.com/office/powerpoint/2010/main" val="150941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CB72-B496-E5A4-5B08-3B8F1C18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88E60981-E841-2A2C-F66C-D2D2DF51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>
                <a:solidFill>
                  <a:schemeClr val="bg1">
                    <a:lumMod val="95000"/>
                  </a:schemeClr>
                </a:solidFill>
              </a:rPr>
              <a:t>05/01/2025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638F492F-8EFA-4651-2331-DF670B39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</a:rPr>
              <a:t>C3I – Équipe 2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7BD5C19-4519-1CF0-F0C4-DA97FE3A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t>2</a:t>
            </a:fld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C15E7-69A0-09A9-FF34-87F562B23A43}"/>
              </a:ext>
            </a:extLst>
          </p:cNvPr>
          <p:cNvGrpSpPr/>
          <p:nvPr/>
        </p:nvGrpSpPr>
        <p:grpSpPr>
          <a:xfrm>
            <a:off x="2322199" y="1866045"/>
            <a:ext cx="2042651" cy="1601569"/>
            <a:chOff x="1527482" y="2063170"/>
            <a:chExt cx="2042651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34825FD-F165-0655-5FE7-FE94D78ACEA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DE7B217A-6B82-9C71-2814-597DD968925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EA5ADF23-FE2C-8FC3-244F-50FD1B3AE5E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E079D4FE-9D85-6C4E-E5DD-A0291AEA4297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b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Présentation</a:t>
              </a:r>
            </a:p>
            <a:p>
              <a:pPr algn="ctr"/>
              <a:r>
                <a:rPr lang="fr-CA" b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générale du projet</a:t>
              </a:r>
              <a:endParaRPr lang="fr-CA" b="1">
                <a:solidFill>
                  <a:srgbClr val="000000"/>
                </a:solidFill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26D5E4-F9EC-D5C3-D287-E48078D5857A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617AD9-3888-B671-AA63-B184548E3A95}"/>
              </a:ext>
            </a:extLst>
          </p:cNvPr>
          <p:cNvGrpSpPr/>
          <p:nvPr/>
        </p:nvGrpSpPr>
        <p:grpSpPr>
          <a:xfrm>
            <a:off x="4779679" y="1865221"/>
            <a:ext cx="2052301" cy="1601025"/>
            <a:chOff x="3790246" y="2063714"/>
            <a:chExt cx="2052301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DDD829BD-AD0C-8444-B3C4-2B08C0C99B6A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DA48EA67-5293-D41A-C6B3-12CDECFE7E0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402F08AA-E205-1926-42E9-B8B3E627F73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296;p16">
              <a:extLst>
                <a:ext uri="{FF2B5EF4-FFF2-40B4-BE49-F238E27FC236}">
                  <a16:creationId xmlns:a16="http://schemas.microsoft.com/office/drawing/2014/main" id="{3669FA49-4CCB-9FBA-2B86-B155FB6EC656}"/>
                </a:ext>
              </a:extLst>
            </p:cNvPr>
            <p:cNvSpPr txBox="1"/>
            <p:nvPr/>
          </p:nvSpPr>
          <p:spPr>
            <a:xfrm>
              <a:off x="3790246" y="2703553"/>
              <a:ext cx="204265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FR" b="1">
                  <a:latin typeface="Amasis MT Pro Light" panose="02040304050005020304" pitchFamily="18" charset="0"/>
                </a:rPr>
                <a:t>Présentation du projet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D7BC2B-DFFC-CA2D-87D4-CC5360A3A6B8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3F2394-80BC-6D58-97E8-58CD1EF433B6}"/>
              </a:ext>
            </a:extLst>
          </p:cNvPr>
          <p:cNvGrpSpPr/>
          <p:nvPr/>
        </p:nvGrpSpPr>
        <p:grpSpPr>
          <a:xfrm>
            <a:off x="7270311" y="3657417"/>
            <a:ext cx="2050276" cy="1600200"/>
            <a:chOff x="1518532" y="3847055"/>
            <a:chExt cx="2050276" cy="1600200"/>
          </a:xfrm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72AAF401-C346-B4B1-0EF7-84D503A78212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82D8BA3E-EF7C-F1D2-E32B-6E1A81884D52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A153FAAF-8E89-699E-C384-7B080F4B1A4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A8BE34AD-F47E-5DE1-6A28-9A4BFA8D22B2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672E31-71B2-DF95-40A4-D6B073326430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6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A464C9-2041-9938-DF62-7FC7E0AAA494}"/>
              </a:ext>
            </a:extLst>
          </p:cNvPr>
          <p:cNvGrpSpPr/>
          <p:nvPr/>
        </p:nvGrpSpPr>
        <p:grpSpPr>
          <a:xfrm>
            <a:off x="4810806" y="3664815"/>
            <a:ext cx="4523630" cy="1600200"/>
            <a:chOff x="8344725" y="2060939"/>
            <a:chExt cx="452363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45791F5C-A052-331F-791D-329E63B032B5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77CF78C8-C22A-F924-37EE-AAA8E1C1F89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9BC62A25-2301-22AC-6AF8-0D644A842D40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296;p16">
              <a:extLst>
                <a:ext uri="{FF2B5EF4-FFF2-40B4-BE49-F238E27FC236}">
                  <a16:creationId xmlns:a16="http://schemas.microsoft.com/office/drawing/2014/main" id="{1FD0F854-E8B9-68B8-8CE3-653071960C20}"/>
                </a:ext>
              </a:extLst>
            </p:cNvPr>
            <p:cNvSpPr txBox="1"/>
            <p:nvPr/>
          </p:nvSpPr>
          <p:spPr>
            <a:xfrm>
              <a:off x="10825705" y="2736227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b="1">
                  <a:solidFill>
                    <a:srgbClr val="000000"/>
                  </a:solidFill>
                  <a:latin typeface="Amasis MT Pro Light"/>
                  <a:ea typeface="Open Sans"/>
                  <a:cs typeface="Open Sans"/>
                  <a:sym typeface="Open Sans"/>
                </a:rPr>
                <a:t>Période de questions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E8A7EEE-054F-A2EB-3101-5539A4A78861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17ACFF-60F7-771A-FB74-F23E8FA11DB3}"/>
              </a:ext>
            </a:extLst>
          </p:cNvPr>
          <p:cNvGrpSpPr/>
          <p:nvPr/>
        </p:nvGrpSpPr>
        <p:grpSpPr>
          <a:xfrm>
            <a:off x="2325716" y="3657418"/>
            <a:ext cx="2046760" cy="1600199"/>
            <a:chOff x="6068201" y="2064540"/>
            <a:chExt cx="204676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F1755489-7CD0-AD3E-0C66-02162081F6BD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A8BAC3D9-08AB-9F7E-0E10-A88A841AFEF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17BD7621-0C2A-6C38-C20D-3AC2047CE3C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" name="Google Shape;296;p16">
              <a:extLst>
                <a:ext uri="{FF2B5EF4-FFF2-40B4-BE49-F238E27FC236}">
                  <a16:creationId xmlns:a16="http://schemas.microsoft.com/office/drawing/2014/main" id="{81EB1023-5A5C-CE50-CC25-29964274314F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b="1">
                  <a:solidFill>
                    <a:srgbClr val="000000"/>
                  </a:solidFill>
                  <a:latin typeface="Amasis MT Pro Light"/>
                  <a:ea typeface="Open Sans"/>
                  <a:cs typeface="Open Sans"/>
                  <a:sym typeface="Open Sans"/>
                </a:rPr>
                <a:t>Gestion</a:t>
              </a:r>
              <a:endParaRPr lang="fr-FR" b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88D8244-8C4E-6F96-89B2-D4F3E57CAAE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C82D4D8-5779-3CEA-0B4A-3C837309D824}"/>
              </a:ext>
            </a:extLst>
          </p:cNvPr>
          <p:cNvGrpSpPr/>
          <p:nvPr/>
        </p:nvGrpSpPr>
        <p:grpSpPr>
          <a:xfrm>
            <a:off x="7277937" y="1865221"/>
            <a:ext cx="2046760" cy="1600199"/>
            <a:chOff x="6068201" y="2064540"/>
            <a:chExt cx="204676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B721F23C-AB2D-0CE7-FA9A-43745C6809D0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ADEC24A6-7579-D0C5-EEE0-5B8DCAD992B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FBFC15D9-30D3-4ADB-EF47-97FCD60F99C8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1934310A-7510-68BF-D847-2935C07D0F8A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b="1">
                  <a:solidFill>
                    <a:srgbClr val="000000"/>
                  </a:solidFill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Respect des</a:t>
              </a:r>
            </a:p>
            <a:p>
              <a:pPr algn="ctr"/>
              <a:r>
                <a:rPr lang="fr-CA" b="1">
                  <a:solidFill>
                    <a:srgbClr val="000000"/>
                  </a:solidFill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contraintes</a:t>
              </a:r>
              <a:endParaRPr lang="fr-FR" b="1">
                <a:latin typeface="Amasis MT Pro Light" panose="020403040500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34931F-E3C3-51D4-C2B1-8B65A15D9F5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F1A113F-15EE-346A-110C-8AA119A2A39F}"/>
              </a:ext>
            </a:extLst>
          </p:cNvPr>
          <p:cNvSpPr txBox="1"/>
          <p:nvPr/>
        </p:nvSpPr>
        <p:spPr>
          <a:xfrm>
            <a:off x="5032689" y="426359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800" b="1">
                <a:solidFill>
                  <a:srgbClr val="000000"/>
                </a:solidFill>
                <a:latin typeface="Amasis MT Pro Light"/>
                <a:ea typeface="Open Sans"/>
                <a:cs typeface="Open Sans"/>
                <a:sym typeface="Open Sans"/>
              </a:rPr>
              <a:t>Démonstration</a:t>
            </a:r>
            <a:endParaRPr lang="fr-CA" b="1"/>
          </a:p>
        </p:txBody>
      </p:sp>
    </p:spTree>
    <p:extLst>
      <p:ext uri="{BB962C8B-B14F-4D97-AF65-F5344CB8AC3E}">
        <p14:creationId xmlns:p14="http://schemas.microsoft.com/office/powerpoint/2010/main" val="67991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E453D-31E4-AADA-6482-4A66ECA09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64" y="1629837"/>
            <a:ext cx="8318049" cy="6516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Tanné d’avoir plusieurs outils à trainer?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F57A3-EDB6-F956-2AF3-2B765946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Présentation globale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76A75332-1CDB-BB65-FAB4-D98656BE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>
                <a:solidFill>
                  <a:schemeClr val="tx1"/>
                </a:solidFill>
              </a:rPr>
              <a:t>05/01/2025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288609CC-2C2F-21F0-8FE9-17295164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C3I – Équipe 2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5ED6BBCF-A110-20A4-713E-30D07F2E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utoShape 8" descr="Image">
            <a:extLst>
              <a:ext uri="{FF2B5EF4-FFF2-40B4-BE49-F238E27FC236}">
                <a16:creationId xmlns:a16="http://schemas.microsoft.com/office/drawing/2014/main" id="{A3CB7A06-59C3-2D2C-2394-E51243D361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650CFA-FB07-D747-51F9-763655D73920}"/>
              </a:ext>
            </a:extLst>
          </p:cNvPr>
          <p:cNvSpPr txBox="1">
            <a:spLocks/>
          </p:cNvSpPr>
          <p:nvPr/>
        </p:nvSpPr>
        <p:spPr>
          <a:xfrm>
            <a:off x="1012763" y="2198696"/>
            <a:ext cx="8318049" cy="988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/>
              <a:t>Ton professeur d’architecture est dégouté par tes projets avec des angles </a:t>
            </a:r>
            <a:r>
              <a:rPr lang="fr-CA"/>
              <a:t>dégueu</a:t>
            </a:r>
            <a:r>
              <a:rPr lang="fr-CA" dirty="0"/>
              <a:t>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4875CC0-7B16-BAE5-C675-E2FA7EBE1B55}"/>
              </a:ext>
            </a:extLst>
          </p:cNvPr>
          <p:cNvSpPr txBox="1">
            <a:spLocks/>
          </p:cNvSpPr>
          <p:nvPr/>
        </p:nvSpPr>
        <p:spPr>
          <a:xfrm>
            <a:off x="1012762" y="3186821"/>
            <a:ext cx="8318049" cy="988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/>
              <a:t>Fatigué</a:t>
            </a:r>
            <a:r>
              <a:rPr lang="fr-CA" dirty="0"/>
              <a:t> que tes projets de bricolo ne fonctionnent pas?</a:t>
            </a:r>
          </a:p>
          <a:p>
            <a:endParaRPr lang="fr-CA" dirty="0"/>
          </a:p>
          <a:p>
            <a:endParaRPr lang="fr-CA" dirty="0"/>
          </a:p>
          <a:p>
            <a:pPr marL="0" indent="0">
              <a:buFont typeface="Arial" panose="020B0604020202020204" pitchFamily="34" charset="0"/>
              <a:buNone/>
            </a:pPr>
            <a:endParaRPr lang="fr-CA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2582118-BB3C-0CEC-28C1-A08368150ACC}"/>
              </a:ext>
            </a:extLst>
          </p:cNvPr>
          <p:cNvSpPr txBox="1">
            <a:spLocks/>
          </p:cNvSpPr>
          <p:nvPr/>
        </p:nvSpPr>
        <p:spPr>
          <a:xfrm>
            <a:off x="1012761" y="4174705"/>
            <a:ext cx="8318049" cy="685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Ruler</a:t>
            </a:r>
            <a:r>
              <a:rPr lang="fr-CA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2024 est alors parfait pour toi!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marL="0" indent="0">
              <a:buFont typeface="Arial" panose="020B0604020202020204" pitchFamily="34" charset="0"/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0763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20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8B964-D7FD-E2A6-02EC-2ED32EA5F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98" y="265906"/>
            <a:ext cx="4813760" cy="628829"/>
          </a:xfrm>
        </p:spPr>
        <p:txBody>
          <a:bodyPr/>
          <a:lstStyle/>
          <a:p>
            <a:r>
              <a:rPr lang="fr-CA"/>
              <a:t>Présentation globale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012481-11A5-1CC7-DD16-413B9A91F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498" y="1119546"/>
            <a:ext cx="5197218" cy="5315232"/>
          </a:xfrm>
        </p:spPr>
        <p:txBody>
          <a:bodyPr>
            <a:normAutofit lnSpcReduction="10000"/>
          </a:bodyPr>
          <a:lstStyle/>
          <a:p>
            <a:r>
              <a:rPr lang="fr-CA" b="1" u="sng" spc="300"/>
              <a:t>Avantages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Amélioration de la productivité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Réduction des outils nécessaires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Meilleur rapport qualité-prix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Adapté aux professionnels et étudiants</a:t>
            </a:r>
          </a:p>
          <a:p>
            <a:pPr>
              <a:buFont typeface="Arial" panose="020B0604020202020204" pitchFamily="34" charset="0"/>
              <a:buChar char="•"/>
            </a:pPr>
            <a:endParaRPr lang="fr-CA"/>
          </a:p>
          <a:p>
            <a:r>
              <a:rPr lang="fr-CA" b="1" u="sng" spc="300"/>
              <a:t>Caractéristiques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Traçage précis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Mesure d’angles intégrée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Ergonomique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Portable</a:t>
            </a:r>
          </a:p>
          <a:p>
            <a:pPr>
              <a:buFont typeface="Arial" panose="020B0604020202020204" pitchFamily="34" charset="0"/>
              <a:buChar char="•"/>
            </a:pPr>
            <a:endParaRPr lang="fr-CA"/>
          </a:p>
          <a:p>
            <a:r>
              <a:rPr lang="fr-CA" b="1" u="sng" spc="300"/>
              <a:t>Cibles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Architectes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Designers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/>
              <a:t>Bricoleurs</a:t>
            </a:r>
          </a:p>
          <a:p>
            <a:pPr>
              <a:buFont typeface="Arial" panose="020B0604020202020204" pitchFamily="34" charset="0"/>
              <a:buChar char="•"/>
            </a:pPr>
            <a:endParaRPr lang="fr-CA"/>
          </a:p>
          <a:p>
            <a:pPr>
              <a:buFont typeface="Arial" panose="020B0604020202020204" pitchFamily="34" charset="0"/>
              <a:buChar char="•"/>
            </a:pPr>
            <a:endParaRPr lang="fr-CA"/>
          </a:p>
          <a:p>
            <a:pPr>
              <a:buFont typeface="Arial" panose="020B0604020202020204" pitchFamily="34" charset="0"/>
              <a:buChar char="•"/>
            </a:pPr>
            <a:endParaRPr lang="fr-CA"/>
          </a:p>
          <a:p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C4CBC9-87C0-9112-760B-B4E379BB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>
                <a:solidFill>
                  <a:schemeClr val="tx1"/>
                </a:solidFill>
              </a:rPr>
              <a:t>5/01/2025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8FBAC6-68C5-4044-2761-816E71B1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C3I – Équipe 2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DF6F93-5026-2880-E407-5E27A083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 descr="Structured for Success: Bachelor of Architecture - News - Truckee Meadows  Community College">
            <a:extLst>
              <a:ext uri="{FF2B5EF4-FFF2-40B4-BE49-F238E27FC236}">
                <a16:creationId xmlns:a16="http://schemas.microsoft.com/office/drawing/2014/main" id="{5151FAB8-0416-DA86-BF32-D4270BA06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188" y="1219200"/>
            <a:ext cx="4733285" cy="275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6B70981-429F-8588-53AE-D916D6F03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783" y="2730897"/>
            <a:ext cx="2621427" cy="1559749"/>
          </a:xfrm>
          <a:prstGeom prst="rect">
            <a:avLst/>
          </a:prstGeom>
        </p:spPr>
      </p:pic>
      <p:pic>
        <p:nvPicPr>
          <p:cNvPr id="2052" name="Picture 4" descr="Règle de niveau à bulle en alliage d'aluminium haute précision 500 mm :  Amazon.ca: Outils et Bricolage">
            <a:extLst>
              <a:ext uri="{FF2B5EF4-FFF2-40B4-BE49-F238E27FC236}">
                <a16:creationId xmlns:a16="http://schemas.microsoft.com/office/drawing/2014/main" id="{6172690D-8EF7-949A-B816-F2765B053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2243637"/>
            <a:ext cx="297180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apporteur d'angles semi-circulaire - Brault &amp; Bouthillier">
            <a:extLst>
              <a:ext uri="{FF2B5EF4-FFF2-40B4-BE49-F238E27FC236}">
                <a16:creationId xmlns:a16="http://schemas.microsoft.com/office/drawing/2014/main" id="{CE18D730-EC9D-1F3D-3A5D-EF1294667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523" y="3310514"/>
            <a:ext cx="2460154" cy="151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814315E-59D2-F379-F802-299CE00EA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311" y="2438411"/>
            <a:ext cx="2677502" cy="2677502"/>
          </a:xfrm>
          <a:prstGeom prst="rect">
            <a:avLst/>
          </a:prstGeom>
        </p:spPr>
      </p:pic>
      <p:sp>
        <p:nvSpPr>
          <p:cNvPr id="12" name="AutoShape 8" descr="Image">
            <a:extLst>
              <a:ext uri="{FF2B5EF4-FFF2-40B4-BE49-F238E27FC236}">
                <a16:creationId xmlns:a16="http://schemas.microsoft.com/office/drawing/2014/main" id="{778B57B0-5835-46BC-BD9F-7055160E68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44859" y="473431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EA48E37-EE4F-2394-ECF4-A9FA3719BE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016" t="41666" r="20565" b="25097"/>
          <a:stretch/>
        </p:blipFill>
        <p:spPr>
          <a:xfrm>
            <a:off x="7380523" y="3310514"/>
            <a:ext cx="4499706" cy="102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5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9084E-8B43-8F71-14F7-DC8D8EC3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2D777-2712-500B-DB6E-77B5AD1C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0155459C-FA9E-5A1D-D17E-6C0BE7ED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05/01/2025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CE620EB3-0653-C5C8-A4C4-F3E38B59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C3I – Équipe 2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4DD88CFE-415A-7C99-E5A5-8FDA0068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28480-1C08-4458-AD97-0283E6FFD0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1D2CA-E195-08BC-FDEF-5FCA07B8E39B}"/>
              </a:ext>
            </a:extLst>
          </p:cNvPr>
          <p:cNvGrpSpPr/>
          <p:nvPr/>
        </p:nvGrpSpPr>
        <p:grpSpPr>
          <a:xfrm>
            <a:off x="2322199" y="1866045"/>
            <a:ext cx="2042651" cy="1601569"/>
            <a:chOff x="1527482" y="2063170"/>
            <a:chExt cx="2042651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C99481EE-EA0D-1BED-C7D9-6396BE956ECA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D20EF9AB-9150-166E-5F3B-1A2A83591AFD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5D3BD766-7293-681C-188A-124F0B7E18DD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9FDDD5B9-DC31-3DC7-42F2-1C17ED08254A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Présentation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générale du projet</a:t>
              </a:r>
              <a:endParaRPr kumimoji="0" lang="fr-CA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 panose="02040304050005020304" pitchFamily="18" charset="0"/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367553-3BDE-CBC9-821D-9A39301F4426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998640-9BD0-1A3B-226B-D52370DD0D43}"/>
              </a:ext>
            </a:extLst>
          </p:cNvPr>
          <p:cNvGrpSpPr/>
          <p:nvPr/>
        </p:nvGrpSpPr>
        <p:grpSpPr>
          <a:xfrm>
            <a:off x="4779679" y="1865221"/>
            <a:ext cx="2052301" cy="1601025"/>
            <a:chOff x="3790246" y="2063714"/>
            <a:chExt cx="2052301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7A4E1C23-16C1-AC69-6ABA-36FE1E777456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F4901E97-A14E-13A3-3C73-E59D364EEDD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001F104A-C87F-8C73-119E-5C9AFF18516F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296;p16">
              <a:extLst>
                <a:ext uri="{FF2B5EF4-FFF2-40B4-BE49-F238E27FC236}">
                  <a16:creationId xmlns:a16="http://schemas.microsoft.com/office/drawing/2014/main" id="{3BE78CF7-8412-0F4A-6D57-4E87162FDDF2}"/>
                </a:ext>
              </a:extLst>
            </p:cNvPr>
            <p:cNvSpPr txBox="1"/>
            <p:nvPr/>
          </p:nvSpPr>
          <p:spPr>
            <a:xfrm>
              <a:off x="3790246" y="2703553"/>
              <a:ext cx="204265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 panose="02040604050005020304" pitchFamily="18" charset="0"/>
                </a:rPr>
                <a:t>Présentation du projet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E91715-486E-00FB-A8A1-B755236B2371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148AC5-8680-6552-9804-91201BECBDEC}"/>
              </a:ext>
            </a:extLst>
          </p:cNvPr>
          <p:cNvGrpSpPr/>
          <p:nvPr/>
        </p:nvGrpSpPr>
        <p:grpSpPr>
          <a:xfrm>
            <a:off x="7270311" y="3657417"/>
            <a:ext cx="2050276" cy="1600200"/>
            <a:chOff x="1518532" y="3847055"/>
            <a:chExt cx="2050276" cy="1600200"/>
          </a:xfrm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66ECA97F-973F-2B3A-8DDC-EFA503EB66BE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FCBBBF39-D46F-914A-FD3A-34D9108885F0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DE43076B-5E84-48F5-2CB6-54DF2111101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8252CDFF-2077-43EB-73AE-FDC7A9D5872B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959A403-0090-CE84-9DD1-B87788DE64F9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7949C9-370D-8E8B-BC3E-00FA6CBED5AF}"/>
              </a:ext>
            </a:extLst>
          </p:cNvPr>
          <p:cNvGrpSpPr/>
          <p:nvPr/>
        </p:nvGrpSpPr>
        <p:grpSpPr>
          <a:xfrm>
            <a:off x="4810806" y="3664815"/>
            <a:ext cx="4523630" cy="1600200"/>
            <a:chOff x="8344725" y="2060939"/>
            <a:chExt cx="452363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ECD4125C-38F5-2EF7-02A8-75808882AD2A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3C08D2B4-18DF-E801-8FD5-778F20644993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478AE7FC-DF0A-BEC0-36DC-B5F54A83EF9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296;p16">
              <a:extLst>
                <a:ext uri="{FF2B5EF4-FFF2-40B4-BE49-F238E27FC236}">
                  <a16:creationId xmlns:a16="http://schemas.microsoft.com/office/drawing/2014/main" id="{5E971724-546D-554E-1670-8B974516E937}"/>
                </a:ext>
              </a:extLst>
            </p:cNvPr>
            <p:cNvSpPr txBox="1"/>
            <p:nvPr/>
          </p:nvSpPr>
          <p:spPr>
            <a:xfrm>
              <a:off x="10825705" y="2736227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Période de questions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D276BB0-2437-9790-290E-799FA0BF8832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90DF8DE-2530-55B5-1C39-3414AA0B70EE}"/>
              </a:ext>
            </a:extLst>
          </p:cNvPr>
          <p:cNvGrpSpPr/>
          <p:nvPr/>
        </p:nvGrpSpPr>
        <p:grpSpPr>
          <a:xfrm>
            <a:off x="2325716" y="3657418"/>
            <a:ext cx="2046760" cy="1600199"/>
            <a:chOff x="6068201" y="2064540"/>
            <a:chExt cx="204676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7D74BAEA-DF50-6356-F5A1-D8BFCE98B7C1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4EDEE120-56D4-B5C8-739E-F4D3E9E4EE30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705CB3A6-D9F2-C4BE-5A3A-B9EE0FCAF6E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" name="Google Shape;296;p16">
              <a:extLst>
                <a:ext uri="{FF2B5EF4-FFF2-40B4-BE49-F238E27FC236}">
                  <a16:creationId xmlns:a16="http://schemas.microsoft.com/office/drawing/2014/main" id="{D881D295-DB0A-15A1-CA16-4F5AA9808C53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Gestion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8C5B1A9-48EE-F8E0-EBA2-43954FD05B1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F11FA40-6B46-A6F2-5ACA-20216A81A506}"/>
              </a:ext>
            </a:extLst>
          </p:cNvPr>
          <p:cNvGrpSpPr/>
          <p:nvPr/>
        </p:nvGrpSpPr>
        <p:grpSpPr>
          <a:xfrm>
            <a:off x="7277937" y="1865221"/>
            <a:ext cx="2046760" cy="1600199"/>
            <a:chOff x="6068201" y="2064540"/>
            <a:chExt cx="204676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0A9DD3B4-0D1B-5949-1E6C-9E8B75543668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385B9CCD-4D11-119A-4D3D-9315BF27D1A1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B818FC92-1DBB-483C-8313-3E0A2EF4CCE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B0F0B0E0-7097-263A-11EB-61A77B64DB9E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Respect des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contraintes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Light" panose="02040304050005020304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65A447-6B4A-0BB9-EC04-A61B4C1C2BEE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259AF87-57FF-7DE3-0186-A2AFE1C37FD4}"/>
              </a:ext>
            </a:extLst>
          </p:cNvPr>
          <p:cNvSpPr txBox="1"/>
          <p:nvPr/>
        </p:nvSpPr>
        <p:spPr>
          <a:xfrm>
            <a:off x="5032689" y="426359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/>
                <a:ea typeface="Open Sans"/>
                <a:cs typeface="Open Sans"/>
                <a:sym typeface="Open Sans"/>
              </a:rPr>
              <a:t>Démonstration</a:t>
            </a:r>
            <a:endParaRPr kumimoji="0" lang="fr-CA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02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30-121C-1415-7AA9-C32E2774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Fonctionnalit</a:t>
            </a:r>
            <a:r>
              <a:rPr lang="fr-CA" dirty="0" err="1"/>
              <a:t>és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FB76-4D0D-BFD9-BBE7-ED3B9A463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ESP32-C3 WROOM</a:t>
            </a:r>
          </a:p>
          <a:p>
            <a:r>
              <a:rPr lang="en-US" dirty="0"/>
              <a:t>USB-C (Prog et recharge)</a:t>
            </a:r>
          </a:p>
          <a:p>
            <a:r>
              <a:rPr lang="en-US" dirty="0"/>
              <a:t>Sensor de distance</a:t>
            </a:r>
          </a:p>
          <a:p>
            <a:r>
              <a:rPr lang="en-US" dirty="0"/>
              <a:t>IMU</a:t>
            </a:r>
          </a:p>
          <a:p>
            <a:r>
              <a:rPr lang="en-US" dirty="0"/>
              <a:t>Battery 3.7V (Lithium Polymer)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BD285-D686-DF61-374D-3A00FCC2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DD8E-ABF2-EB45-204F-94800050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C3I – Équipe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CCEC6-6CC5-A3F2-6447-B76124B9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E0A370-FE00-5C02-B2AB-769C2897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56800" y="1822798"/>
            <a:ext cx="6858000" cy="321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3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0590-F7A6-C318-4DC1-531BC5F8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1E3A1-8E80-2B68-9DBC-3D21688A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D9D24-C528-0AA4-8486-C7B693D6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2A4D-1BE9-E434-866D-192951E9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7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E2FC7E5-9067-C961-892F-766C12C4D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5A1A4D-9B90-E51F-5366-380AAAEB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00032" cy="3219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813E85-CE03-70D8-C7E5-30F3F794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57865"/>
            <a:ext cx="7543800" cy="37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9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B466-F49C-80F5-AFD6-832F520F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2B2AA-5722-3867-E248-069FC9552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7083F-9225-50AE-4EFA-065401C0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6/25/2024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DD5C-1108-55F0-5347-9844D05E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E15D2-0355-66CA-BB1A-AA069165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F7FEFC-1A31-5E0C-939F-9DB40324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3" y="0"/>
            <a:ext cx="12159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4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BCBB3C-3976-5E46-C542-0083B09DD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35" t="14603" r="1563" b="50090"/>
          <a:stretch/>
        </p:blipFill>
        <p:spPr>
          <a:xfrm>
            <a:off x="304800" y="730583"/>
            <a:ext cx="10766322" cy="26984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F1B7C-FF94-276C-E740-E31F5ED0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6/25/2024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4491C-003D-35BB-C20D-DA55E383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126F4-A3A5-64DD-7802-628EDB41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8E28480-1C08-4458-AD97-0283E6FFD09D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0FA28E-9920-9DF0-97B0-994332713F4C}"/>
              </a:ext>
            </a:extLst>
          </p:cNvPr>
          <p:cNvSpPr txBox="1"/>
          <p:nvPr/>
        </p:nvSpPr>
        <p:spPr>
          <a:xfrm>
            <a:off x="304800" y="311123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800"/>
              <a:t>Couche du dessus:</a:t>
            </a:r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A2D88A1-646D-CE6B-12CF-602C9526AA6D}"/>
              </a:ext>
            </a:extLst>
          </p:cNvPr>
          <p:cNvSpPr txBox="1"/>
          <p:nvPr/>
        </p:nvSpPr>
        <p:spPr>
          <a:xfrm>
            <a:off x="304800" y="36600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800"/>
              <a:t>Couche du dessous:</a:t>
            </a:r>
            <a:endParaRPr lang="fr-CA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CBCA1716-6E10-E093-CDA4-7DC698FAD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" t="65720" r="1147" b="1965"/>
          <a:stretch/>
        </p:blipFill>
        <p:spPr>
          <a:xfrm>
            <a:off x="366252" y="4159583"/>
            <a:ext cx="10665542" cy="246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1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8250E-E483-4D64-F208-1234D5BB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9297-7A29-42AD-7F78-43A777A8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8E24142F-A97B-6131-A731-5CCBA9A6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05/01/2025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57642DF0-9923-ADFE-7AAE-1546DFA9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C3I – Équipe 2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E87DE654-CAAA-8036-2B30-371145C0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28480-1C08-4458-AD97-0283E6FFD0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EF9899-1671-6B0A-DDAB-941B0B017904}"/>
              </a:ext>
            </a:extLst>
          </p:cNvPr>
          <p:cNvGrpSpPr/>
          <p:nvPr/>
        </p:nvGrpSpPr>
        <p:grpSpPr>
          <a:xfrm>
            <a:off x="2322199" y="1866045"/>
            <a:ext cx="2042651" cy="1601569"/>
            <a:chOff x="1527482" y="2063170"/>
            <a:chExt cx="2042651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E246B0F8-FAAE-3724-6552-0189A5C840F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62382BD6-3865-868F-570E-55D3B213AADA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6EAAC4D7-DF05-B558-028E-A3CF95FBDF5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D5AD4208-6E7A-78AD-EB98-050EEB7942FC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Présentation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générale du projet</a:t>
              </a:r>
              <a:endParaRPr kumimoji="0" lang="fr-CA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 panose="02040304050005020304" pitchFamily="18" charset="0"/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9098EA0-0A02-8CC3-7DC6-7400B050BF44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19EF6C-E186-C789-2FF4-C973245BCB00}"/>
              </a:ext>
            </a:extLst>
          </p:cNvPr>
          <p:cNvGrpSpPr/>
          <p:nvPr/>
        </p:nvGrpSpPr>
        <p:grpSpPr>
          <a:xfrm>
            <a:off x="4779679" y="1865221"/>
            <a:ext cx="2052301" cy="1601025"/>
            <a:chOff x="3790246" y="2063714"/>
            <a:chExt cx="2052301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1E9B563A-FE7F-BE2B-9F64-434ADEB6B99C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29465AED-FF95-F6DB-3F34-2BB6267163CD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D9FB16A3-FCE0-2CD6-1C93-F56F90061336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296;p16">
              <a:extLst>
                <a:ext uri="{FF2B5EF4-FFF2-40B4-BE49-F238E27FC236}">
                  <a16:creationId xmlns:a16="http://schemas.microsoft.com/office/drawing/2014/main" id="{117A6D12-8763-1D88-0AD3-22BB0CFAED57}"/>
                </a:ext>
              </a:extLst>
            </p:cNvPr>
            <p:cNvSpPr txBox="1"/>
            <p:nvPr/>
          </p:nvSpPr>
          <p:spPr>
            <a:xfrm>
              <a:off x="3790246" y="2703553"/>
              <a:ext cx="204265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+mn-ea"/>
                  <a:cs typeface="+mn-cs"/>
                </a:rPr>
                <a:t>Présentation du projet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5E8CD6-DE89-5749-9AE1-0158036D0E80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61D989-CE4A-2841-F3AA-868FBCB08210}"/>
              </a:ext>
            </a:extLst>
          </p:cNvPr>
          <p:cNvGrpSpPr/>
          <p:nvPr/>
        </p:nvGrpSpPr>
        <p:grpSpPr>
          <a:xfrm>
            <a:off x="7270311" y="3657417"/>
            <a:ext cx="2050276" cy="1600200"/>
            <a:chOff x="1518532" y="3847055"/>
            <a:chExt cx="2050276" cy="1600200"/>
          </a:xfrm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D2285C73-51D3-E19A-2C59-0F1AF8622DC6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BBFBBCF6-D972-0166-C0DC-3F4338D52AC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1E397C34-7153-A0E1-C897-F7113544701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480BC395-79FC-6871-E0F1-00A1017D4A59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4EE580-655C-336D-F4CC-E4135292E941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8F951F-8544-5525-AB74-A13FD66D9548}"/>
              </a:ext>
            </a:extLst>
          </p:cNvPr>
          <p:cNvGrpSpPr/>
          <p:nvPr/>
        </p:nvGrpSpPr>
        <p:grpSpPr>
          <a:xfrm>
            <a:off x="4810806" y="3664815"/>
            <a:ext cx="4523630" cy="1600200"/>
            <a:chOff x="8344725" y="2060939"/>
            <a:chExt cx="452363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6D6799F3-6A05-A923-D9CB-4D86606452BB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8AB17518-03A2-D09E-096A-7BC6BF5A9671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9A6B7D78-5219-8004-43C7-C1586B914A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296;p16">
              <a:extLst>
                <a:ext uri="{FF2B5EF4-FFF2-40B4-BE49-F238E27FC236}">
                  <a16:creationId xmlns:a16="http://schemas.microsoft.com/office/drawing/2014/main" id="{6EEB40A3-547E-02E3-3288-079F591DBD3B}"/>
                </a:ext>
              </a:extLst>
            </p:cNvPr>
            <p:cNvSpPr txBox="1"/>
            <p:nvPr/>
          </p:nvSpPr>
          <p:spPr>
            <a:xfrm>
              <a:off x="10825705" y="2736227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Période de questions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141B1C4-BFFF-A92D-15CC-038A7268D251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BA722A2-FDA4-05B6-F1E4-B2BDFFE0EA74}"/>
              </a:ext>
            </a:extLst>
          </p:cNvPr>
          <p:cNvGrpSpPr/>
          <p:nvPr/>
        </p:nvGrpSpPr>
        <p:grpSpPr>
          <a:xfrm>
            <a:off x="2325716" y="3657418"/>
            <a:ext cx="2046760" cy="1600199"/>
            <a:chOff x="6068201" y="2064540"/>
            <a:chExt cx="204676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CBF8FE22-91E1-CB8F-85F0-39230773BA03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F3DE473C-141F-529C-D62F-896DB4145F8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4EBEC85C-7CEF-DD1C-026E-830380FE4F15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" name="Google Shape;296;p16">
              <a:extLst>
                <a:ext uri="{FF2B5EF4-FFF2-40B4-BE49-F238E27FC236}">
                  <a16:creationId xmlns:a16="http://schemas.microsoft.com/office/drawing/2014/main" id="{80C0E776-D24D-4BD1-4D48-B23525A4C29B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Gestion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1871E8-772F-899C-3CA4-A3C2632681FD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C8BE7DC-5883-A556-1BFA-2CD971B04732}"/>
              </a:ext>
            </a:extLst>
          </p:cNvPr>
          <p:cNvGrpSpPr/>
          <p:nvPr/>
        </p:nvGrpSpPr>
        <p:grpSpPr>
          <a:xfrm>
            <a:off x="7277937" y="1865221"/>
            <a:ext cx="2046760" cy="1600199"/>
            <a:chOff x="6068201" y="2064540"/>
            <a:chExt cx="204676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F4A54578-1C76-2706-7B7F-F9F207B55F3D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4E75AED3-E1FD-C4EA-C4F8-A0CEC985BFE1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02D9EF20-F8CE-7F9E-2597-83EB33547C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7374FE81-CBF8-308A-C625-450B4F6801BD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Medium" panose="02040604050005020304" pitchFamily="18" charset="0"/>
                  <a:ea typeface="Open Sans"/>
                  <a:cs typeface="Open Sans"/>
                  <a:sym typeface="Open Sans"/>
                </a:rPr>
                <a:t>Respect des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Medium" panose="02040604050005020304" pitchFamily="18" charset="0"/>
                  <a:ea typeface="Open Sans"/>
                  <a:cs typeface="Open Sans"/>
                  <a:sym typeface="Open Sans"/>
                </a:rPr>
                <a:t>contraintes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D87435-5F61-2CD8-9084-BCCDC95769A0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FB55632-CA7C-29D3-5E37-9F2396BACC2B}"/>
              </a:ext>
            </a:extLst>
          </p:cNvPr>
          <p:cNvSpPr txBox="1"/>
          <p:nvPr/>
        </p:nvSpPr>
        <p:spPr>
          <a:xfrm>
            <a:off x="5032689" y="426359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/>
                <a:ea typeface="Open Sans"/>
                <a:cs typeface="Open Sans"/>
                <a:sym typeface="Open Sans"/>
              </a:rPr>
              <a:t>Démonstration</a:t>
            </a:r>
            <a:endParaRPr kumimoji="0" lang="fr-CA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82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9C59-A89B-4C84-2A72-B9F18EB5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F4FB-AE37-DFCC-1EC6-30ADDA0B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Respect des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095CD-77CF-3B5E-AEA5-9D2829255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2788"/>
            <a:ext cx="4358489" cy="3513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accent2">
                    <a:lumMod val="50000"/>
                  </a:schemeClr>
                </a:solidFill>
              </a:rPr>
              <a:t>Échéanciers</a:t>
            </a:r>
          </a:p>
          <a:p>
            <a:r>
              <a:rPr lang="fr-CA" dirty="0">
                <a:solidFill>
                  <a:schemeClr val="accent2">
                    <a:lumMod val="50000"/>
                  </a:schemeClr>
                </a:solidFill>
              </a:rPr>
              <a:t>Coût de développement</a:t>
            </a:r>
          </a:p>
          <a:p>
            <a:r>
              <a:rPr lang="fr-CA" dirty="0">
                <a:solidFill>
                  <a:schemeClr val="accent2">
                    <a:lumMod val="50000"/>
                  </a:schemeClr>
                </a:solidFill>
              </a:rPr>
              <a:t>Dimension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EB35DEBA-1624-367F-3437-6E037B24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>
                <a:solidFill>
                  <a:schemeClr val="tx1"/>
                </a:solidFill>
              </a:rPr>
              <a:t>05/01/2025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5957349-5A0D-A476-98BB-4917B1A5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C3I – </a:t>
            </a:r>
            <a:r>
              <a:rPr lang="en-US">
                <a:solidFill>
                  <a:schemeClr val="tx1"/>
                </a:solidFill>
              </a:rPr>
              <a:t>Équipe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F8AC52C0-3932-28DA-1DFD-6490EDD6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EE85BB-32E9-5F96-9203-75A2A441F47C}"/>
              </a:ext>
            </a:extLst>
          </p:cNvPr>
          <p:cNvSpPr txBox="1">
            <a:spLocks/>
          </p:cNvSpPr>
          <p:nvPr/>
        </p:nvSpPr>
        <p:spPr>
          <a:xfrm>
            <a:off x="6274806" y="2842787"/>
            <a:ext cx="4358489" cy="35135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>
                <a:solidFill>
                  <a:srgbClr val="FF0000"/>
                </a:solidFill>
              </a:rPr>
              <a:t>Coût du BOM</a:t>
            </a:r>
          </a:p>
        </p:txBody>
      </p:sp>
    </p:spTree>
    <p:extLst>
      <p:ext uri="{BB962C8B-B14F-4D97-AF65-F5344CB8AC3E}">
        <p14:creationId xmlns:p14="http://schemas.microsoft.com/office/powerpoint/2010/main" val="3706966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ECE59-CFAC-2726-C30A-EA0161B9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6259-E83D-B922-2C69-DD7E57C4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5F2497CE-424E-7E1C-5850-37191413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05/01/2025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AA3D6399-651C-47AC-A762-3879F76B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C3I – Équipe 2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C3D5E9FB-78A2-7C51-F3F2-3685E8B7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28480-1C08-4458-AD97-0283E6FFD0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0E09EA-BA23-8DF6-AB73-F34AA0A9BDED}"/>
              </a:ext>
            </a:extLst>
          </p:cNvPr>
          <p:cNvGrpSpPr/>
          <p:nvPr/>
        </p:nvGrpSpPr>
        <p:grpSpPr>
          <a:xfrm>
            <a:off x="2322199" y="1866045"/>
            <a:ext cx="2042651" cy="1601569"/>
            <a:chOff x="1527482" y="2063170"/>
            <a:chExt cx="2042651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FE02A842-0528-B156-CE1C-617CE1E7D59E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609EE6D3-60A2-6A5F-6CAD-0070861B8C5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61C04C6B-64BC-F664-C42E-B3E2F693C10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169E50E3-87D4-C2E2-42D4-1CD1819B94BC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Présentation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générale du projet</a:t>
              </a: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 panose="02040304050005020304" pitchFamily="18" charset="0"/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EC161E-AC68-A283-0BA9-3D72A5A5A334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419A79-D24B-AF79-FEDF-65B56D061440}"/>
              </a:ext>
            </a:extLst>
          </p:cNvPr>
          <p:cNvGrpSpPr/>
          <p:nvPr/>
        </p:nvGrpSpPr>
        <p:grpSpPr>
          <a:xfrm>
            <a:off x="4779679" y="1865221"/>
            <a:ext cx="2052301" cy="1601025"/>
            <a:chOff x="3790246" y="2063714"/>
            <a:chExt cx="2052301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0A4B7C4D-6BB9-67D8-EC0A-71593FD6434B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10A9A450-C290-383A-0A6A-A54F025C6936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D97E206E-7C2F-974E-704F-0516841217F8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296;p16">
              <a:extLst>
                <a:ext uri="{FF2B5EF4-FFF2-40B4-BE49-F238E27FC236}">
                  <a16:creationId xmlns:a16="http://schemas.microsoft.com/office/drawing/2014/main" id="{8A95E3F4-27D6-1DA1-D5EE-CD842B3E9E77}"/>
                </a:ext>
              </a:extLst>
            </p:cNvPr>
            <p:cNvSpPr txBox="1"/>
            <p:nvPr/>
          </p:nvSpPr>
          <p:spPr>
            <a:xfrm>
              <a:off x="3790246" y="2703553"/>
              <a:ext cx="204265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+mn-ea"/>
                  <a:cs typeface="+mn-cs"/>
                </a:rPr>
                <a:t>Présentation du projet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6EF15D-3D1F-C602-2DAA-9F8D532B0B0E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277AC9-0F7C-F04A-491F-F83B45EBE717}"/>
              </a:ext>
            </a:extLst>
          </p:cNvPr>
          <p:cNvGrpSpPr/>
          <p:nvPr/>
        </p:nvGrpSpPr>
        <p:grpSpPr>
          <a:xfrm>
            <a:off x="7270311" y="3657417"/>
            <a:ext cx="2050276" cy="1600200"/>
            <a:chOff x="1518532" y="3847055"/>
            <a:chExt cx="2050276" cy="1600200"/>
          </a:xfrm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EE5C190E-4316-48AC-26F3-9A4FAACCE09E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13AB5BF5-1009-ACBE-0713-03A86FA0FD7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2BCDA751-4D27-4831-AC2C-14694BE966A0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1DFC1966-56E8-368D-1AB7-A140D44E4D6A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D377981-44FE-EB19-22D1-81AD94FB8D87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04E2DE-62D3-F344-53F7-A69AD3020587}"/>
              </a:ext>
            </a:extLst>
          </p:cNvPr>
          <p:cNvGrpSpPr/>
          <p:nvPr/>
        </p:nvGrpSpPr>
        <p:grpSpPr>
          <a:xfrm>
            <a:off x="4810806" y="3664815"/>
            <a:ext cx="4523630" cy="1600200"/>
            <a:chOff x="8344725" y="2060939"/>
            <a:chExt cx="452363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4C02C6A7-E923-AFEA-35CD-9B9ED84E4474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D56E88E3-D4FD-865D-9F57-D97642A51FD1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674616B2-7439-F76E-B2EB-EEFB0CADD48D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296;p16">
              <a:extLst>
                <a:ext uri="{FF2B5EF4-FFF2-40B4-BE49-F238E27FC236}">
                  <a16:creationId xmlns:a16="http://schemas.microsoft.com/office/drawing/2014/main" id="{13DA8AB6-E1A3-99FA-933E-33602184155A}"/>
                </a:ext>
              </a:extLst>
            </p:cNvPr>
            <p:cNvSpPr txBox="1"/>
            <p:nvPr/>
          </p:nvSpPr>
          <p:spPr>
            <a:xfrm>
              <a:off x="10825705" y="2736227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Période de questions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CD9B82-EE0C-DE3C-DDAA-C7639D6A54A0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0021300-DDF6-C35F-EC3E-69D30D1E5B5D}"/>
              </a:ext>
            </a:extLst>
          </p:cNvPr>
          <p:cNvGrpSpPr/>
          <p:nvPr/>
        </p:nvGrpSpPr>
        <p:grpSpPr>
          <a:xfrm>
            <a:off x="2325716" y="3657418"/>
            <a:ext cx="2046760" cy="1600199"/>
            <a:chOff x="6068201" y="2064540"/>
            <a:chExt cx="204676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F17E382D-CF35-31CD-23A7-58C0D3E088B8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516F3F07-34A9-75E3-5589-9B046FBE3A8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8288634C-EE02-F4B8-9BB1-5976B154D57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" name="Google Shape;296;p16">
              <a:extLst>
                <a:ext uri="{FF2B5EF4-FFF2-40B4-BE49-F238E27FC236}">
                  <a16:creationId xmlns:a16="http://schemas.microsoft.com/office/drawing/2014/main" id="{36BBB326-3376-F21C-17A8-42650E49F164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Medium" panose="02040604050005020304" pitchFamily="18" charset="0"/>
                  <a:ea typeface="Open Sans"/>
                  <a:cs typeface="Open Sans"/>
                  <a:sym typeface="Open Sans"/>
                </a:rPr>
                <a:t>Gestion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C06FAB-882E-321A-4990-4F245F2A0B9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3EEDBB8-95B2-BFA8-5BC4-61E668E9A009}"/>
              </a:ext>
            </a:extLst>
          </p:cNvPr>
          <p:cNvGrpSpPr/>
          <p:nvPr/>
        </p:nvGrpSpPr>
        <p:grpSpPr>
          <a:xfrm>
            <a:off x="7277937" y="1865221"/>
            <a:ext cx="2046760" cy="1600199"/>
            <a:chOff x="6068201" y="2064540"/>
            <a:chExt cx="204676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547310CA-B980-B6AC-4AF4-8752484D19F3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3079213C-8B2B-0808-2254-5C45D173AB8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3B8371D6-4CA5-A78E-B3CF-E657040D57A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72B6A15F-DD69-5D0C-A698-F1AB677FCAA2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Respect des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contraintes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Light" panose="020403040500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AD11DC-8D84-A851-B10E-0E522FADBC7A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A114010-A1C0-1063-5558-36A572084402}"/>
              </a:ext>
            </a:extLst>
          </p:cNvPr>
          <p:cNvSpPr txBox="1"/>
          <p:nvPr/>
        </p:nvSpPr>
        <p:spPr>
          <a:xfrm>
            <a:off x="5032689" y="426359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/>
                <a:ea typeface="Open Sans"/>
                <a:cs typeface="Open Sans"/>
                <a:sym typeface="Open Sans"/>
              </a:rPr>
              <a:t>Démonstration</a:t>
            </a:r>
            <a:endParaRPr kumimoji="0" lang="fr-CA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184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7424-9D5B-BE81-4322-7C969912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D9DD-7586-DCD7-2CF2-47234952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988"/>
            <a:ext cx="10515600" cy="1325563"/>
          </a:xfrm>
        </p:spPr>
        <p:txBody>
          <a:bodyPr/>
          <a:lstStyle/>
          <a:p>
            <a:r>
              <a:rPr lang="en-US"/>
              <a:t>Gestion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0084-981D-01AE-DCF4-741A093C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00"/>
              </a:spcBef>
              <a:buNone/>
            </a:pPr>
            <a:endParaRPr lang="fr-CA"/>
          </a:p>
          <a:p>
            <a:pPr marL="0" indent="0">
              <a:spcBef>
                <a:spcPts val="200"/>
              </a:spcBef>
              <a:buNone/>
            </a:pPr>
            <a:endParaRPr lang="fr-CA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501F303E-E064-E943-1B7E-E5342C1A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>
                <a:solidFill>
                  <a:schemeClr val="tx1"/>
                </a:solidFill>
              </a:rPr>
              <a:t>05/01/2025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F8028E04-35D9-145E-B65E-63AB82CC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C3I – Équipe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31D3CC55-3C0C-3F44-7660-046BFC4F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5B4616F-BA5A-FDC2-0480-4C911F7E3F78}"/>
              </a:ext>
            </a:extLst>
          </p:cNvPr>
          <p:cNvSpPr txBox="1"/>
          <p:nvPr/>
        </p:nvSpPr>
        <p:spPr>
          <a:xfrm>
            <a:off x="8849030" y="5052900"/>
            <a:ext cx="3106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**Une moyenne de 3h par semaine a été accordée au projet.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8EAB5CF-E684-B10B-FF17-C2BEAE10F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5743"/>
            <a:ext cx="8010830" cy="467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60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44862-5370-41B3-0461-F1A95F54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A183-9559-5B45-58A4-D57B0D2E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FB0A99F6-27F4-AA1E-C1D3-3023DC63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05/01/2025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B92BD4B2-B149-E84B-BC0B-E5C64B72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C3I – Équipe 2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B35C736-CBE9-6A99-ACF5-9BAC9EDC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28480-1C08-4458-AD97-0283E6FFD0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2BE09A-0DB9-2122-4AAD-033FD6D28E95}"/>
              </a:ext>
            </a:extLst>
          </p:cNvPr>
          <p:cNvGrpSpPr/>
          <p:nvPr/>
        </p:nvGrpSpPr>
        <p:grpSpPr>
          <a:xfrm>
            <a:off x="2322199" y="1866045"/>
            <a:ext cx="2042651" cy="1601569"/>
            <a:chOff x="1527482" y="2063170"/>
            <a:chExt cx="2042651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8F4315C-337E-9CC3-0A69-9B3AADB821A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2E4A8E85-F473-9D70-A284-F48690A9D06A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79E4C0FE-498E-9F96-7B24-3B18476D340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D3870FAC-65C4-C0C8-1703-7540531FABEF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Présentation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générale du projet</a:t>
              </a: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 panose="02040304050005020304" pitchFamily="18" charset="0"/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D6BB8F-F306-97EA-C51D-57ED8852B97C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F0DE17-B04D-A875-ED83-5259CDCA17F3}"/>
              </a:ext>
            </a:extLst>
          </p:cNvPr>
          <p:cNvGrpSpPr/>
          <p:nvPr/>
        </p:nvGrpSpPr>
        <p:grpSpPr>
          <a:xfrm>
            <a:off x="4779679" y="1865221"/>
            <a:ext cx="2052301" cy="1601025"/>
            <a:chOff x="3790246" y="2063714"/>
            <a:chExt cx="2052301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0E5AAC28-70BA-DB85-9F9C-C5C90725220B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C8297723-E975-8284-A009-648E0E19A42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D3D3684B-EF34-1BFA-964C-6724365EC88E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296;p16">
              <a:extLst>
                <a:ext uri="{FF2B5EF4-FFF2-40B4-BE49-F238E27FC236}">
                  <a16:creationId xmlns:a16="http://schemas.microsoft.com/office/drawing/2014/main" id="{31685633-A1A0-210A-CB7C-13AA3CB726FE}"/>
                </a:ext>
              </a:extLst>
            </p:cNvPr>
            <p:cNvSpPr txBox="1"/>
            <p:nvPr/>
          </p:nvSpPr>
          <p:spPr>
            <a:xfrm>
              <a:off x="3790246" y="2703553"/>
              <a:ext cx="204265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+mn-ea"/>
                  <a:cs typeface="+mn-cs"/>
                </a:rPr>
                <a:t>Présentation du projet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D659F3-8BF0-797D-0E4B-4A89178D84AF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87373B3-B907-A045-09F5-8B6B0272CCC6}"/>
              </a:ext>
            </a:extLst>
          </p:cNvPr>
          <p:cNvGrpSpPr/>
          <p:nvPr/>
        </p:nvGrpSpPr>
        <p:grpSpPr>
          <a:xfrm>
            <a:off x="7270311" y="3657417"/>
            <a:ext cx="2050276" cy="1600200"/>
            <a:chOff x="1518532" y="3847055"/>
            <a:chExt cx="2050276" cy="1600200"/>
          </a:xfrm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EF4B859D-1BE2-266F-2522-95226AE568D1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F16FAC87-4076-0E10-4F74-602323D0256A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B5B365DE-A773-3ABF-593A-8188327A1A4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AECFDE26-C2EE-1C2A-E015-D44F310977E5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309A27-9C3A-4B56-747C-2ED3C4889C6C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64A812F-9EF3-A840-8288-099F9C95FC09}"/>
              </a:ext>
            </a:extLst>
          </p:cNvPr>
          <p:cNvGrpSpPr/>
          <p:nvPr/>
        </p:nvGrpSpPr>
        <p:grpSpPr>
          <a:xfrm>
            <a:off x="4810806" y="3664815"/>
            <a:ext cx="4523630" cy="1600200"/>
            <a:chOff x="8344725" y="2060939"/>
            <a:chExt cx="452363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4E1CA15C-CE31-208E-B372-6D32F0066986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9F69D10-2886-3EA8-DD92-61A98BC75AD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9610C28F-3260-DD53-6E4C-CBDEF06082B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296;p16">
              <a:extLst>
                <a:ext uri="{FF2B5EF4-FFF2-40B4-BE49-F238E27FC236}">
                  <a16:creationId xmlns:a16="http://schemas.microsoft.com/office/drawing/2014/main" id="{EDDCEB50-F0B0-A95A-C968-B0A3DB360227}"/>
                </a:ext>
              </a:extLst>
            </p:cNvPr>
            <p:cNvSpPr txBox="1"/>
            <p:nvPr/>
          </p:nvSpPr>
          <p:spPr>
            <a:xfrm>
              <a:off x="10825705" y="2736227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Période de questions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1139DF7-DB2E-3BFB-FD40-5F470692DB86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17AEE85-C756-B35B-9AB6-DFF3A6B4A368}"/>
              </a:ext>
            </a:extLst>
          </p:cNvPr>
          <p:cNvGrpSpPr/>
          <p:nvPr/>
        </p:nvGrpSpPr>
        <p:grpSpPr>
          <a:xfrm>
            <a:off x="2325716" y="3657418"/>
            <a:ext cx="2046760" cy="1600199"/>
            <a:chOff x="6068201" y="2064540"/>
            <a:chExt cx="204676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B7A7F5B7-7EE7-A632-C4A0-FB2952910B50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DB09FC74-C8A2-B184-8575-4009A378EF0D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5D081FB0-2729-3212-BD1B-1EECB223A1D5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" name="Google Shape;296;p16">
              <a:extLst>
                <a:ext uri="{FF2B5EF4-FFF2-40B4-BE49-F238E27FC236}">
                  <a16:creationId xmlns:a16="http://schemas.microsoft.com/office/drawing/2014/main" id="{B5C5EAF3-BEE2-0B4E-4F4D-AFAB59D4A9CF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Gestion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33DD3ED-0A0F-229A-C812-A78FFE5B775C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8A7851A-1CAE-9D88-0814-EFA01D163599}"/>
              </a:ext>
            </a:extLst>
          </p:cNvPr>
          <p:cNvGrpSpPr/>
          <p:nvPr/>
        </p:nvGrpSpPr>
        <p:grpSpPr>
          <a:xfrm>
            <a:off x="7277937" y="1865221"/>
            <a:ext cx="2046760" cy="1600199"/>
            <a:chOff x="6068201" y="2064540"/>
            <a:chExt cx="204676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3D59CF81-1580-30FB-030A-41A1AC4D822D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97812FF3-4362-B457-7CE2-153AEE708C41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C8891592-9D16-8AC5-AC17-2C651340ECE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8C809688-C7C1-DB3D-8369-D3D6DA51E64A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Respect des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contraintes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Light" panose="020403040500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91608A-D51A-BF14-6215-8817FFC37339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F528329-9991-BDB8-3BA9-60C15974FEB9}"/>
              </a:ext>
            </a:extLst>
          </p:cNvPr>
          <p:cNvSpPr txBox="1"/>
          <p:nvPr/>
        </p:nvSpPr>
        <p:spPr>
          <a:xfrm>
            <a:off x="4924534" y="4263593"/>
            <a:ext cx="1789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Medium" panose="02040604050005020304" pitchFamily="18" charset="0"/>
                <a:ea typeface="Open Sans"/>
                <a:cs typeface="Open Sans"/>
                <a:sym typeface="Open Sans"/>
              </a:rPr>
              <a:t>Démonstration</a:t>
            </a:r>
            <a:endParaRPr kumimoji="0" lang="fr-CA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219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C2E17-F6D7-137D-DE0F-BC1715F1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B8CC-13CD-D5D5-0B74-453ACD29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CEB257D9-8E38-8433-C781-EA18302D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05/01/2025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9E0ECDA3-5AE0-F85B-9BBB-8BB59B96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t>C3I – Équipe 2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1536DE6-DA2A-C339-FCCE-C252DF32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28480-1C08-4458-AD97-0283E6FFD0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masis MT Pro Medium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FAF43A-1006-0CC3-2492-C169D3D8BFB6}"/>
              </a:ext>
            </a:extLst>
          </p:cNvPr>
          <p:cNvGrpSpPr/>
          <p:nvPr/>
        </p:nvGrpSpPr>
        <p:grpSpPr>
          <a:xfrm>
            <a:off x="2322199" y="1866045"/>
            <a:ext cx="2042651" cy="1601569"/>
            <a:chOff x="1527482" y="2063170"/>
            <a:chExt cx="2042651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66EB18A0-E2FF-CEF3-805A-145DE67BEB2D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51B01232-419D-CB3E-4566-F43EE3F4301D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A3D52E5F-B7D1-A4C3-1B82-16687009E75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72C69650-9DF3-F28B-275C-D70DCF5BD98E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Présentation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générale du projet</a:t>
              </a: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 panose="02040304050005020304" pitchFamily="18" charset="0"/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88213-89C7-FFDC-312E-68681D38BB84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FEF9D8-5912-2AA6-AF78-43108D2D3F0B}"/>
              </a:ext>
            </a:extLst>
          </p:cNvPr>
          <p:cNvGrpSpPr/>
          <p:nvPr/>
        </p:nvGrpSpPr>
        <p:grpSpPr>
          <a:xfrm>
            <a:off x="4779679" y="1865221"/>
            <a:ext cx="2052301" cy="1601025"/>
            <a:chOff x="3790246" y="2063714"/>
            <a:chExt cx="2052301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19B52B3B-3611-0503-65BD-E3205E54E88C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2EF6F757-C292-B50B-44B3-98A31A502F01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055BF730-F11B-8961-602A-6BB59DBDEA22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296;p16">
              <a:extLst>
                <a:ext uri="{FF2B5EF4-FFF2-40B4-BE49-F238E27FC236}">
                  <a16:creationId xmlns:a16="http://schemas.microsoft.com/office/drawing/2014/main" id="{E6C4D0BB-EF0A-5A10-7166-9757ECF319C2}"/>
                </a:ext>
              </a:extLst>
            </p:cNvPr>
            <p:cNvSpPr txBox="1"/>
            <p:nvPr/>
          </p:nvSpPr>
          <p:spPr>
            <a:xfrm>
              <a:off x="3790246" y="2703553"/>
              <a:ext cx="204265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+mn-ea"/>
                  <a:cs typeface="+mn-cs"/>
                </a:rPr>
                <a:t>Présentation du projet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C7358D-6D57-AE97-2BBD-8C453EE1E13D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4360696-7E38-72A7-81A7-D090299DC4DA}"/>
              </a:ext>
            </a:extLst>
          </p:cNvPr>
          <p:cNvGrpSpPr/>
          <p:nvPr/>
        </p:nvGrpSpPr>
        <p:grpSpPr>
          <a:xfrm>
            <a:off x="7270311" y="3657417"/>
            <a:ext cx="2050276" cy="1600200"/>
            <a:chOff x="1518532" y="3847055"/>
            <a:chExt cx="2050276" cy="1600200"/>
          </a:xfrm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4C8B4AD9-01A5-63FC-F8E3-2009D1AA0F61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7B1C1B3A-B934-D525-F316-81650DE80EA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B0A066A2-107B-C3CC-B974-F80E84E998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61A9CF0B-9360-4C59-820B-AB946A9A34FF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89D0201-E64F-5786-77CF-2A1F170F7412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1523D1D-B3FD-AFB4-ADD5-129638734ADE}"/>
              </a:ext>
            </a:extLst>
          </p:cNvPr>
          <p:cNvGrpSpPr/>
          <p:nvPr/>
        </p:nvGrpSpPr>
        <p:grpSpPr>
          <a:xfrm>
            <a:off x="4810806" y="3664815"/>
            <a:ext cx="4502155" cy="1600200"/>
            <a:chOff x="8344725" y="2060939"/>
            <a:chExt cx="4502155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B51B9734-32FB-1398-6814-0D69579E9DEE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BA9A2F3C-9430-5F9C-A733-E4B64E8830A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24E5C319-2889-DBB0-AAC5-1BAEA2222F57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296;p16">
              <a:extLst>
                <a:ext uri="{FF2B5EF4-FFF2-40B4-BE49-F238E27FC236}">
                  <a16:creationId xmlns:a16="http://schemas.microsoft.com/office/drawing/2014/main" id="{5ABDA430-C2F1-0744-8E24-13CA8563D754}"/>
                </a:ext>
              </a:extLst>
            </p:cNvPr>
            <p:cNvSpPr txBox="1"/>
            <p:nvPr/>
          </p:nvSpPr>
          <p:spPr>
            <a:xfrm>
              <a:off x="10843524" y="2638702"/>
              <a:ext cx="2003356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Medium" panose="02040604050005020304" pitchFamily="18" charset="0"/>
                  <a:ea typeface="Open Sans"/>
                  <a:cs typeface="Open Sans"/>
                  <a:sym typeface="Open Sans"/>
                </a:rPr>
                <a:t>Période de questions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D43F857-B7B6-ABFE-90F8-281D300A760F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7F028F6-C7C7-A3C9-02D0-802F4508E5DD}"/>
              </a:ext>
            </a:extLst>
          </p:cNvPr>
          <p:cNvGrpSpPr/>
          <p:nvPr/>
        </p:nvGrpSpPr>
        <p:grpSpPr>
          <a:xfrm>
            <a:off x="2325716" y="3657418"/>
            <a:ext cx="2046760" cy="1600199"/>
            <a:chOff x="6068201" y="2064540"/>
            <a:chExt cx="204676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91CB2F4D-67A2-DC2C-75F3-C24F9D64CC69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CC8B8A0B-6F1D-2860-CDD9-4A7B9752412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270B3D3B-0F94-F3AB-E0B4-9F8A41E9836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" name="Google Shape;296;p16">
              <a:extLst>
                <a:ext uri="{FF2B5EF4-FFF2-40B4-BE49-F238E27FC236}">
                  <a16:creationId xmlns:a16="http://schemas.microsoft.com/office/drawing/2014/main" id="{BB0C7ADD-98D6-99C9-E9CC-7DCEFC475540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/>
                  <a:ea typeface="Open Sans"/>
                  <a:cs typeface="Open Sans"/>
                  <a:sym typeface="Open Sans"/>
                </a:rPr>
                <a:t>Gestion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6D0286D-E9C2-84D3-8427-4ECC3C92621F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DB6C6D1-76B3-C76B-74E5-6FBED78966ED}"/>
              </a:ext>
            </a:extLst>
          </p:cNvPr>
          <p:cNvGrpSpPr/>
          <p:nvPr/>
        </p:nvGrpSpPr>
        <p:grpSpPr>
          <a:xfrm>
            <a:off x="7277937" y="1865221"/>
            <a:ext cx="2046760" cy="1600199"/>
            <a:chOff x="6068201" y="2064540"/>
            <a:chExt cx="204676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67220AE6-E10D-C68D-0689-19D0A2CA76B2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C460A5B1-9B5C-D181-3EF6-EC1F9F2E2F0C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endParaRPr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957B5FB6-7BD7-14A5-A3ED-441CCA9C038D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6CE40F8B-6919-C647-3A01-B14C49FD0D6F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Respect des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sis MT Pro Light" panose="02040304050005020304" pitchFamily="18" charset="0"/>
                  <a:ea typeface="Open Sans"/>
                  <a:cs typeface="Open Sans"/>
                  <a:sym typeface="Open Sans"/>
                </a:rPr>
                <a:t>contraintes</a:t>
              </a: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Light" panose="02040304050005020304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90BCAA-4C8A-DF14-5263-8848BB938577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masis MT Pro Medium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6FD3A38-2CF5-186B-F9AB-51C7E0EACAC9}"/>
              </a:ext>
            </a:extLst>
          </p:cNvPr>
          <p:cNvSpPr txBox="1"/>
          <p:nvPr/>
        </p:nvSpPr>
        <p:spPr>
          <a:xfrm>
            <a:off x="5032689" y="426359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sis MT Pro Light" panose="02040304050005020304" pitchFamily="18" charset="0"/>
                <a:ea typeface="Open Sans"/>
                <a:cs typeface="Open Sans"/>
                <a:sym typeface="Open Sans"/>
              </a:rPr>
              <a:t>Démonstration</a:t>
            </a:r>
            <a:endParaRPr kumimoji="0" lang="fr-CA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86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7D22"/>
      </a:accent1>
      <a:accent2>
        <a:srgbClr val="8ED873"/>
      </a:accent2>
      <a:accent3>
        <a:srgbClr val="D9F2D0"/>
      </a:accent3>
      <a:accent4>
        <a:srgbClr val="0B769F"/>
      </a:accent4>
      <a:accent5>
        <a:srgbClr val="60CBF3"/>
      </a:accent5>
      <a:accent6>
        <a:srgbClr val="CAEDFB"/>
      </a:accent6>
      <a:hlink>
        <a:srgbClr val="00B050"/>
      </a:hlink>
      <a:folHlink>
        <a:srgbClr val="92D050"/>
      </a:folHlink>
    </a:clrScheme>
    <a:fontScheme name="CCI">
      <a:majorFont>
        <a:latin typeface="Amasis MT Pro Black"/>
        <a:ea typeface=""/>
        <a:cs typeface=""/>
      </a:majorFont>
      <a:minorFont>
        <a:latin typeface="Amasis MT Pro Medium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BCB8DB02F314E9B33D47D2328BEE3" ma:contentTypeVersion="11" ma:contentTypeDescription="Crée un document." ma:contentTypeScope="" ma:versionID="e554ae5040b51359eb2ce52773233a0a">
  <xsd:schema xmlns:xsd="http://www.w3.org/2001/XMLSchema" xmlns:xs="http://www.w3.org/2001/XMLSchema" xmlns:p="http://schemas.microsoft.com/office/2006/metadata/properties" xmlns:ns2="3ab60a15-fb7d-489d-9e0d-4f2626c05be0" xmlns:ns3="05dc0aba-4466-4464-ae54-e30ec1d1960e" targetNamespace="http://schemas.microsoft.com/office/2006/metadata/properties" ma:root="true" ma:fieldsID="19c39bb3469a366f9905408a925319f0" ns2:_="" ns3:_="">
    <xsd:import namespace="3ab60a15-fb7d-489d-9e0d-4f2626c05be0"/>
    <xsd:import namespace="05dc0aba-4466-4464-ae54-e30ec1d19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60a15-fb7d-489d-9e0d-4f2626c05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dc0aba-4466-4464-ae54-e30ec1d1960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e276286-86e1-408e-aafb-3d2652486757}" ma:internalName="TaxCatchAll" ma:showField="CatchAllData" ma:web="05dc0aba-4466-4464-ae54-e30ec1d196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dc0aba-4466-4464-ae54-e30ec1d1960e" xsi:nil="true"/>
    <lcf76f155ced4ddcb4097134ff3c332f xmlns="3ab60a15-fb7d-489d-9e0d-4f2626c05be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BDB640A-2F1B-4996-A426-5EBBD323EB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626D07-BFC8-4086-891D-5364B7BD1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b60a15-fb7d-489d-9e0d-4f2626c05be0"/>
    <ds:schemaRef ds:uri="05dc0aba-4466-4464-ae54-e30ec1d196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692212-F3B5-4029-A938-C4EA9EF8FAAE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3ab60a15-fb7d-489d-9e0d-4f2626c05be0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05dc0aba-4466-4464-ae54-e30ec1d1960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5496</TotalTime>
  <Words>369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Amasis MT Pro Black</vt:lpstr>
      <vt:lpstr>Amasis MT Pro Light</vt:lpstr>
      <vt:lpstr>Amasis MT Pro Medium</vt:lpstr>
      <vt:lpstr>Aptos</vt:lpstr>
      <vt:lpstr>Arial</vt:lpstr>
      <vt:lpstr>Calibri</vt:lpstr>
      <vt:lpstr>Open Sans</vt:lpstr>
      <vt:lpstr>Office Theme</vt:lpstr>
      <vt:lpstr>PowerPoint Presentation</vt:lpstr>
      <vt:lpstr>Déroulement de la présentation</vt:lpstr>
      <vt:lpstr>Présentation globale</vt:lpstr>
      <vt:lpstr>Présentation globale</vt:lpstr>
      <vt:lpstr>Déroulement de la présentation</vt:lpstr>
      <vt:lpstr>Fonctionnalités</vt:lpstr>
      <vt:lpstr>PowerPoint Presentation</vt:lpstr>
      <vt:lpstr>PowerPoint Presentation</vt:lpstr>
      <vt:lpstr>PowerPoint Presentation</vt:lpstr>
      <vt:lpstr>Déroulement de la présentation</vt:lpstr>
      <vt:lpstr>Respect des contraintes</vt:lpstr>
      <vt:lpstr>Déroulement de la présentation</vt:lpstr>
      <vt:lpstr>Gestion</vt:lpstr>
      <vt:lpstr>Déroulement de la présentation</vt:lpstr>
      <vt:lpstr>Déroulement de la présentation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Caisse</dc:creator>
  <cp:lastModifiedBy>Francis Gratton</cp:lastModifiedBy>
  <cp:revision>34</cp:revision>
  <dcterms:created xsi:type="dcterms:W3CDTF">2024-06-25T23:20:03Z</dcterms:created>
  <dcterms:modified xsi:type="dcterms:W3CDTF">2025-01-04T17:43:33Z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0x010100873BCB8DB02F314E9B33D47D2328BEE3</vt:lpwstr>
  </property>
  <property fmtid="{D5CDD505-2E9C-101B-9397-08002B2CF9AE}" pid="3" name="Order">
    <vt:r8>4781600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